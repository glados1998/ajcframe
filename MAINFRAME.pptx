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64" r:id="rId2"/>
    <p:sldId id="265" r:id="rId3"/>
    <p:sldId id="266" r:id="rId4"/>
    <p:sldId id="270" r:id="rId5"/>
    <p:sldId id="267" r:id="rId6"/>
    <p:sldId id="268" r:id="rId7"/>
    <p:sldId id="269" r:id="rId8"/>
    <p:sldId id="262" r:id="rId9"/>
    <p:sldId id="256" r:id="rId10"/>
    <p:sldId id="257" r:id="rId11"/>
    <p:sldId id="261" r:id="rId12"/>
    <p:sldId id="258" r:id="rId13"/>
    <p:sldId id="259" r:id="rId14"/>
    <p:sldId id="260" r:id="rId15"/>
    <p:sldId id="263" r:id="rId16"/>
    <p:sldId id="275" r:id="rId17"/>
    <p:sldId id="276" r:id="rId18"/>
    <p:sldId id="277" r:id="rId19"/>
    <p:sldId id="27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DD4F1-CA62-477B-88FC-E16DFFF6275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31F07-F15B-423D-87D8-444EA84C997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07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D31F07-F15B-423D-87D8-444EA84C99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05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D31F07-F15B-423D-87D8-444EA84C997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65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37BFE-C9F5-4BF0-B9C9-99E2C0E78C8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A0A8-C7E8-4127-8E7F-53BC9A0DEF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5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37BFE-C9F5-4BF0-B9C9-99E2C0E78C8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A0A8-C7E8-4127-8E7F-53BC9A0DEF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28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37BFE-C9F5-4BF0-B9C9-99E2C0E78C8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A0A8-C7E8-4127-8E7F-53BC9A0DEF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52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37BFE-C9F5-4BF0-B9C9-99E2C0E78C8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A0A8-C7E8-4127-8E7F-53BC9A0DEF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01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37BFE-C9F5-4BF0-B9C9-99E2C0E78C8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A0A8-C7E8-4127-8E7F-53BC9A0DEF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95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37BFE-C9F5-4BF0-B9C9-99E2C0E78C8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A0A8-C7E8-4127-8E7F-53BC9A0DEF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7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37BFE-C9F5-4BF0-B9C9-99E2C0E78C8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A0A8-C7E8-4127-8E7F-53BC9A0DEF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82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37BFE-C9F5-4BF0-B9C9-99E2C0E78C8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A0A8-C7E8-4127-8E7F-53BC9A0DEF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5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37BFE-C9F5-4BF0-B9C9-99E2C0E78C8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A0A8-C7E8-4127-8E7F-53BC9A0DEF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93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37BFE-C9F5-4BF0-B9C9-99E2C0E78C8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A0A8-C7E8-4127-8E7F-53BC9A0DEF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99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37BFE-C9F5-4BF0-B9C9-99E2C0E78C8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A0A8-C7E8-4127-8E7F-53BC9A0DEF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7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0837BFE-C9F5-4BF0-B9C9-99E2C0E78C8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8AEA0A8-C7E8-4127-8E7F-53BC9A0DEF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9525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E5B48126-2B4E-E9F2-FF4C-9C5A5753A4A1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FFC000"/>
                </a:solidFill>
              </a:rPr>
              <a:t>Projet Mainframe — Présentation de la solution</a:t>
            </a:r>
          </a:p>
          <a:p>
            <a:br>
              <a:rPr lang="fr-FR" dirty="0">
                <a:solidFill>
                  <a:srgbClr val="FFC000"/>
                </a:solidFill>
              </a:rPr>
            </a:br>
            <a:r>
              <a:rPr lang="fr-FR" dirty="0">
                <a:solidFill>
                  <a:srgbClr val="FFC000"/>
                </a:solidFill>
              </a:rPr>
              <a:t>Jean-Christophe — Jérôme — Yves</a:t>
            </a:r>
          </a:p>
          <a:p>
            <a:br>
              <a:rPr lang="fr-FR" dirty="0">
                <a:solidFill>
                  <a:srgbClr val="FFC000"/>
                </a:solidFill>
              </a:rPr>
            </a:br>
            <a:r>
              <a:rPr lang="fr-FR" dirty="0">
                <a:solidFill>
                  <a:srgbClr val="FFC000"/>
                </a:solidFill>
              </a:rPr>
              <a:t>Outils : Notion &amp; GitHub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641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32ACD22-5AF4-FD6A-E39E-CB6036906B41}"/>
              </a:ext>
            </a:extLst>
          </p:cNvPr>
          <p:cNvSpPr txBox="1"/>
          <p:nvPr/>
        </p:nvSpPr>
        <p:spPr>
          <a:xfrm>
            <a:off x="3048000" y="1428452"/>
            <a:ext cx="60960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C000"/>
                </a:solidFill>
              </a:rPr>
              <a:t>Présentation de l’équipe</a:t>
            </a:r>
          </a:p>
          <a:p>
            <a:pPr>
              <a:buNone/>
            </a:pPr>
            <a:endParaRPr lang="fr-FR" b="1" dirty="0">
              <a:solidFill>
                <a:srgbClr val="FFC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FFC000"/>
                </a:solidFill>
              </a:rPr>
              <a:t>Jean-Christophe : Parties 1 &amp;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FFC000"/>
                </a:solidFill>
              </a:rPr>
              <a:t>Yves : Partie 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FFC000"/>
                </a:solidFill>
              </a:rPr>
              <a:t>Jérôme : Partie 4</a:t>
            </a:r>
          </a:p>
          <a:p>
            <a:br>
              <a:rPr lang="fr-FR" sz="2800" dirty="0">
                <a:solidFill>
                  <a:srgbClr val="FFC000"/>
                </a:solidFill>
              </a:rPr>
            </a:br>
            <a:r>
              <a:rPr lang="fr-FR" sz="2800" dirty="0">
                <a:solidFill>
                  <a:srgbClr val="FFC000"/>
                </a:solidFill>
              </a:rPr>
              <a:t>Outils utilisés :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rgbClr val="FFC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FFC000"/>
                </a:solidFill>
              </a:rPr>
              <a:t>Notion</a:t>
            </a:r>
            <a:r>
              <a:rPr lang="fr-FR" dirty="0">
                <a:solidFill>
                  <a:srgbClr val="FFC000"/>
                </a:solidFill>
              </a:rPr>
              <a:t> pour l’organisation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FFC000"/>
                </a:solidFill>
              </a:rPr>
              <a:t>GitHub</a:t>
            </a:r>
            <a:r>
              <a:rPr lang="fr-FR" dirty="0">
                <a:solidFill>
                  <a:srgbClr val="FFC000"/>
                </a:solidFill>
              </a:rPr>
              <a:t> pour le code COBOL, JCL, SQL et les tests</a:t>
            </a:r>
          </a:p>
          <a:p>
            <a:endParaRPr lang="fr-FR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49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0A6ED31-6EC7-3D5F-8766-A5574E1B9FB2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C000"/>
                </a:solidFill>
              </a:rPr>
              <a:t>Contexte du projet</a:t>
            </a:r>
          </a:p>
          <a:p>
            <a:pPr>
              <a:buNone/>
            </a:pPr>
            <a:endParaRPr lang="fr-FR" b="1" dirty="0">
              <a:solidFill>
                <a:srgbClr val="FFC000"/>
              </a:solidFill>
            </a:endParaRPr>
          </a:p>
          <a:p>
            <a:pPr>
              <a:buNone/>
            </a:pPr>
            <a:r>
              <a:rPr lang="fr-FR" dirty="0">
                <a:solidFill>
                  <a:srgbClr val="FFC000"/>
                </a:solidFill>
              </a:rPr>
              <a:t>La société AJCFRAME souhaite automatiser :</a:t>
            </a:r>
          </a:p>
          <a:p>
            <a:endParaRPr lang="fr-FR" dirty="0">
              <a:solidFill>
                <a:srgbClr val="FFC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l’intégration de nouveaux produits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l’import des ventes Europe / Asie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la génération automatique des factures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la production de statistiques consolidées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la journalisation des anomalies</a:t>
            </a:r>
          </a:p>
        </p:txBody>
      </p:sp>
    </p:spTree>
    <p:extLst>
      <p:ext uri="{BB962C8B-B14F-4D97-AF65-F5344CB8AC3E}">
        <p14:creationId xmlns:p14="http://schemas.microsoft.com/office/powerpoint/2010/main" val="291940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4B27525-2F47-692F-08B4-7882FEA9E6B4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C000"/>
                </a:solidFill>
              </a:rPr>
              <a:t>Structure générale du devoir</a:t>
            </a:r>
          </a:p>
          <a:p>
            <a:pPr>
              <a:buNone/>
            </a:pPr>
            <a:endParaRPr lang="fr-FR" b="1" dirty="0">
              <a:solidFill>
                <a:srgbClr val="FFC000"/>
              </a:solidFill>
            </a:endParaRPr>
          </a:p>
          <a:p>
            <a:pPr>
              <a:buNone/>
            </a:pPr>
            <a:r>
              <a:rPr lang="fr-FR" b="1" dirty="0">
                <a:solidFill>
                  <a:srgbClr val="FFC000"/>
                </a:solidFill>
              </a:rPr>
              <a:t>Partie 1</a:t>
            </a:r>
            <a:r>
              <a:rPr lang="fr-FR" dirty="0">
                <a:solidFill>
                  <a:srgbClr val="FFC000"/>
                </a:solidFill>
              </a:rPr>
              <a:t> : Import des nouveaux produits</a:t>
            </a:r>
          </a:p>
          <a:p>
            <a:pPr>
              <a:buNone/>
            </a:pPr>
            <a:br>
              <a:rPr lang="fr-FR" dirty="0">
                <a:solidFill>
                  <a:srgbClr val="FFC000"/>
                </a:solidFill>
              </a:rPr>
            </a:br>
            <a:r>
              <a:rPr lang="fr-FR" b="1" dirty="0">
                <a:solidFill>
                  <a:srgbClr val="FFC000"/>
                </a:solidFill>
              </a:rPr>
              <a:t>Partie 2</a:t>
            </a:r>
            <a:r>
              <a:rPr lang="fr-FR" dirty="0">
                <a:solidFill>
                  <a:srgbClr val="FFC000"/>
                </a:solidFill>
              </a:rPr>
              <a:t> : Import des ventes + mise à jour stocks &amp; balances</a:t>
            </a:r>
          </a:p>
          <a:p>
            <a:pPr>
              <a:buNone/>
            </a:pPr>
            <a:br>
              <a:rPr lang="fr-FR" dirty="0">
                <a:solidFill>
                  <a:srgbClr val="FFC000"/>
                </a:solidFill>
              </a:rPr>
            </a:br>
            <a:r>
              <a:rPr lang="fr-FR" b="1" dirty="0">
                <a:solidFill>
                  <a:srgbClr val="FFC000"/>
                </a:solidFill>
              </a:rPr>
              <a:t>Partie 3</a:t>
            </a:r>
            <a:r>
              <a:rPr lang="fr-FR" dirty="0">
                <a:solidFill>
                  <a:srgbClr val="FFC000"/>
                </a:solidFill>
              </a:rPr>
              <a:t> : Génération des factures</a:t>
            </a:r>
          </a:p>
          <a:p>
            <a:pPr>
              <a:buNone/>
            </a:pPr>
            <a:br>
              <a:rPr lang="fr-FR" dirty="0">
                <a:solidFill>
                  <a:srgbClr val="FFC000"/>
                </a:solidFill>
              </a:rPr>
            </a:br>
            <a:r>
              <a:rPr lang="fr-FR" b="1" dirty="0">
                <a:solidFill>
                  <a:srgbClr val="FFC000"/>
                </a:solidFill>
              </a:rPr>
              <a:t>Partie 4</a:t>
            </a:r>
            <a:r>
              <a:rPr lang="fr-FR" dirty="0">
                <a:solidFill>
                  <a:srgbClr val="FFC000"/>
                </a:solidFill>
              </a:rPr>
              <a:t> : Statistiques (produits, villes, commissions)</a:t>
            </a:r>
          </a:p>
        </p:txBody>
      </p:sp>
    </p:spTree>
    <p:extLst>
      <p:ext uri="{BB962C8B-B14F-4D97-AF65-F5344CB8AC3E}">
        <p14:creationId xmlns:p14="http://schemas.microsoft.com/office/powerpoint/2010/main" val="300649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6206D78-9297-25AC-D5EA-173C8C7D562A}"/>
              </a:ext>
            </a:extLst>
          </p:cNvPr>
          <p:cNvSpPr txBox="1"/>
          <p:nvPr/>
        </p:nvSpPr>
        <p:spPr>
          <a:xfrm>
            <a:off x="3048000" y="1767006"/>
            <a:ext cx="6096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C000"/>
                </a:solidFill>
              </a:rPr>
              <a:t>Partie 1 : Nouveaux produits</a:t>
            </a:r>
          </a:p>
          <a:p>
            <a:pPr>
              <a:buNone/>
            </a:pPr>
            <a:endParaRPr lang="fr-FR" b="1" dirty="0">
              <a:solidFill>
                <a:srgbClr val="FFC000"/>
              </a:solidFill>
            </a:endParaRPr>
          </a:p>
          <a:p>
            <a:pPr>
              <a:buNone/>
            </a:pPr>
            <a:r>
              <a:rPr lang="fr-FR" sz="2400" dirty="0">
                <a:solidFill>
                  <a:srgbClr val="FFC000"/>
                </a:solidFill>
              </a:rPr>
              <a:t>Objectifs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Traiter </a:t>
            </a:r>
            <a:r>
              <a:rPr lang="fr-FR" dirty="0">
                <a:solidFill>
                  <a:srgbClr val="FFC000"/>
                </a:solidFill>
                <a:latin typeface="Courier New" panose="02070309020205020404" pitchFamily="49" charset="0"/>
              </a:rPr>
              <a:t>PROJET.NEWPRODS.DATA</a:t>
            </a:r>
            <a:endParaRPr lang="fr-FR" dirty="0">
              <a:solidFill>
                <a:srgbClr val="FFC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Contrôler formats, doublons, cohérence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Convertir les prix dans une devise unique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Mettre en forme les descriptions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rgbClr val="FFC000"/>
              </a:solidFill>
            </a:endParaRPr>
          </a:p>
          <a:p>
            <a:r>
              <a:rPr lang="fr-FR" sz="2400" dirty="0">
                <a:solidFill>
                  <a:srgbClr val="FFC000"/>
                </a:solidFill>
              </a:rPr>
              <a:t>Insérer en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Générer </a:t>
            </a:r>
            <a:r>
              <a:rPr lang="fr-FR" dirty="0">
                <a:solidFill>
                  <a:srgbClr val="FFC000"/>
                </a:solidFill>
                <a:latin typeface="Courier New" panose="02070309020205020404" pitchFamily="49" charset="0"/>
              </a:rPr>
              <a:t>PROJET.NEWPRODS.ERR</a:t>
            </a:r>
            <a:r>
              <a:rPr lang="fr-FR" dirty="0">
                <a:solidFill>
                  <a:srgbClr val="FFC000"/>
                </a:solidFill>
              </a:rPr>
              <a:t> en cas d’anomalie</a:t>
            </a:r>
          </a:p>
        </p:txBody>
      </p:sp>
    </p:spTree>
    <p:extLst>
      <p:ext uri="{BB962C8B-B14F-4D97-AF65-F5344CB8AC3E}">
        <p14:creationId xmlns:p14="http://schemas.microsoft.com/office/powerpoint/2010/main" val="465222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756E633-830E-C0E0-ADE9-1588A66B8F6E}"/>
              </a:ext>
            </a:extLst>
          </p:cNvPr>
          <p:cNvSpPr txBox="1"/>
          <p:nvPr/>
        </p:nvSpPr>
        <p:spPr>
          <a:xfrm>
            <a:off x="2851355" y="1797784"/>
            <a:ext cx="648929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C000"/>
                </a:solidFill>
              </a:rPr>
              <a:t>Partie 2 : Ventes Europe / Asie</a:t>
            </a:r>
          </a:p>
          <a:p>
            <a:pPr>
              <a:buNone/>
            </a:pPr>
            <a:endParaRPr lang="fr-FR" b="1" dirty="0">
              <a:solidFill>
                <a:srgbClr val="FFC000"/>
              </a:solidFill>
            </a:endParaRPr>
          </a:p>
          <a:p>
            <a:pPr>
              <a:buNone/>
            </a:pPr>
            <a:r>
              <a:rPr lang="fr-FR" sz="2400" dirty="0">
                <a:solidFill>
                  <a:srgbClr val="FFC000"/>
                </a:solidFill>
              </a:rPr>
              <a:t>Objectifs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Charger </a:t>
            </a:r>
            <a:r>
              <a:rPr lang="fr-FR" dirty="0">
                <a:solidFill>
                  <a:srgbClr val="FFC000"/>
                </a:solidFill>
                <a:latin typeface="Courier New" panose="02070309020205020404" pitchFamily="49" charset="0"/>
              </a:rPr>
              <a:t>VENTESEU.DATA</a:t>
            </a:r>
            <a:r>
              <a:rPr lang="fr-FR" dirty="0">
                <a:solidFill>
                  <a:srgbClr val="FFC000"/>
                </a:solidFill>
              </a:rPr>
              <a:t> et </a:t>
            </a:r>
            <a:r>
              <a:rPr lang="fr-FR" dirty="0">
                <a:solidFill>
                  <a:srgbClr val="FFC000"/>
                </a:solidFill>
                <a:latin typeface="Courier New" panose="02070309020205020404" pitchFamily="49" charset="0"/>
              </a:rPr>
              <a:t>VENTESAS.DATA</a:t>
            </a:r>
            <a:endParaRPr lang="fr-FR" dirty="0">
              <a:solidFill>
                <a:srgbClr val="FFC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FFC000"/>
                </a:solidFill>
              </a:rPr>
              <a:t>Mettre à jour 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stocks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solde 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Vérifier les seuils via </a:t>
            </a:r>
            <a:r>
              <a:rPr lang="fr-FR" dirty="0">
                <a:solidFill>
                  <a:srgbClr val="FFC000"/>
                </a:solidFill>
                <a:latin typeface="Courier New" panose="02070309020205020404" pitchFamily="49" charset="0"/>
              </a:rPr>
              <a:t>PROJET.STOCKS.DATA</a:t>
            </a:r>
            <a:endParaRPr lang="fr-FR" dirty="0">
              <a:solidFill>
                <a:srgbClr val="FFC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Générer </a:t>
            </a:r>
            <a:r>
              <a:rPr lang="fr-FR" dirty="0">
                <a:solidFill>
                  <a:srgbClr val="FFC000"/>
                </a:solidFill>
                <a:latin typeface="Courier New" panose="02070309020205020404" pitchFamily="49" charset="0"/>
              </a:rPr>
              <a:t>PROJET.REAPPRO.DATA</a:t>
            </a:r>
            <a:r>
              <a:rPr lang="fr-FR" dirty="0">
                <a:solidFill>
                  <a:srgbClr val="FFC000"/>
                </a:solidFill>
              </a:rPr>
              <a:t> si nécessaire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Garantir l’absence de doublons &amp; cohérence interne</a:t>
            </a:r>
          </a:p>
        </p:txBody>
      </p:sp>
    </p:spTree>
    <p:extLst>
      <p:ext uri="{BB962C8B-B14F-4D97-AF65-F5344CB8AC3E}">
        <p14:creationId xmlns:p14="http://schemas.microsoft.com/office/powerpoint/2010/main" val="1115103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9BDE97F-A95E-DCB8-A28B-AAE331C04D48}"/>
              </a:ext>
            </a:extLst>
          </p:cNvPr>
          <p:cNvSpPr txBox="1"/>
          <p:nvPr/>
        </p:nvSpPr>
        <p:spPr>
          <a:xfrm>
            <a:off x="2386780" y="1089898"/>
            <a:ext cx="7418439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C000"/>
                </a:solidFill>
                <a:highlight>
                  <a:srgbClr val="000000"/>
                </a:highlight>
              </a:rPr>
              <a:t>Partie 3 : Génération des factures</a:t>
            </a:r>
          </a:p>
          <a:p>
            <a:pPr>
              <a:buNone/>
            </a:pPr>
            <a:endParaRPr lang="fr-FR" b="1" dirty="0">
              <a:solidFill>
                <a:srgbClr val="FFC000"/>
              </a:solidFill>
              <a:highlight>
                <a:srgbClr val="000000"/>
              </a:highlight>
            </a:endParaRPr>
          </a:p>
          <a:p>
            <a:pPr>
              <a:buNone/>
            </a:pPr>
            <a:r>
              <a:rPr lang="fr-FR" sz="2800" dirty="0">
                <a:solidFill>
                  <a:srgbClr val="FFC000"/>
                </a:solidFill>
                <a:highlight>
                  <a:srgbClr val="000000"/>
                </a:highlight>
              </a:rPr>
              <a:t>Objectif : produire </a:t>
            </a:r>
            <a:r>
              <a:rPr lang="fr-FR" sz="2800" dirty="0">
                <a:solidFill>
                  <a:srgbClr val="FFC000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PROJET.FACTURES.DATA</a:t>
            </a:r>
          </a:p>
          <a:p>
            <a:pPr>
              <a:buNone/>
            </a:pPr>
            <a:br>
              <a:rPr lang="fr-FR" sz="2400" dirty="0">
                <a:solidFill>
                  <a:srgbClr val="FFC000"/>
                </a:solidFill>
                <a:highlight>
                  <a:srgbClr val="000000"/>
                </a:highlight>
              </a:rPr>
            </a:br>
            <a:r>
              <a:rPr lang="fr-FR" sz="2400" dirty="0">
                <a:solidFill>
                  <a:srgbClr val="FFC000"/>
                </a:solidFill>
                <a:highlight>
                  <a:srgbClr val="000000"/>
                </a:highlight>
              </a:rPr>
              <a:t>Contraintes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  <a:highlight>
                  <a:srgbClr val="000000"/>
                </a:highlight>
              </a:rPr>
              <a:t>une facture par commande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  <a:highlight>
                  <a:srgbClr val="000000"/>
                </a:highlight>
              </a:rPr>
              <a:t>date en toutes lettres (sous-programme dédié)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  <a:highlight>
                  <a:srgbClr val="000000"/>
                </a:highlight>
              </a:rPr>
              <a:t>SALES TAX en SYSIN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  <a:highlight>
                  <a:srgbClr val="000000"/>
                </a:highlight>
              </a:rPr>
              <a:t>calcul remise, sous-total, taxes, commission</a:t>
            </a:r>
          </a:p>
          <a:p>
            <a:endParaRPr lang="fr-FR" dirty="0">
              <a:solidFill>
                <a:srgbClr val="FFC000"/>
              </a:solidFill>
              <a:highlight>
                <a:srgbClr val="000000"/>
              </a:highlight>
            </a:endParaRPr>
          </a:p>
          <a:p>
            <a:pPr>
              <a:buNone/>
            </a:pPr>
            <a:r>
              <a:rPr lang="fr-FR" sz="2400" dirty="0">
                <a:solidFill>
                  <a:srgbClr val="FFC000"/>
                </a:solidFill>
                <a:highlight>
                  <a:srgbClr val="000000"/>
                </a:highlight>
              </a:rPr>
              <a:t>Fichiers utilisés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PROJET.EXTRACT.DATA</a:t>
            </a:r>
            <a:r>
              <a:rPr lang="fr-FR" dirty="0">
                <a:solidFill>
                  <a:srgbClr val="FFC000"/>
                </a:solidFill>
                <a:highlight>
                  <a:srgbClr val="000000"/>
                </a:highlight>
              </a:rPr>
              <a:t> (export DB2 vers fichier)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FACTURE.DATA</a:t>
            </a:r>
            <a:endParaRPr lang="fr-FR" dirty="0">
              <a:solidFill>
                <a:srgbClr val="FFC000"/>
              </a:solidFill>
              <a:highlight>
                <a:srgbClr val="0000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JOURNAL5.DATA</a:t>
            </a:r>
            <a:endParaRPr lang="fr-FR" dirty="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15577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08BDEFE-A611-104B-A93D-A5CAB50A7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65" y="85258"/>
            <a:ext cx="11784070" cy="668748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4443FEE-34E5-2EDB-DF7B-D801DAF46243}"/>
              </a:ext>
            </a:extLst>
          </p:cNvPr>
          <p:cNvSpPr txBox="1"/>
          <p:nvPr/>
        </p:nvSpPr>
        <p:spPr>
          <a:xfrm>
            <a:off x="203965" y="1551562"/>
            <a:ext cx="6096000" cy="3754874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C000"/>
                </a:solidFill>
                <a:highlight>
                  <a:srgbClr val="000000"/>
                </a:highlight>
              </a:rPr>
              <a:t>Architecture Partie 3</a:t>
            </a:r>
          </a:p>
          <a:p>
            <a:pPr>
              <a:buNone/>
            </a:pPr>
            <a:endParaRPr lang="fr-FR" b="1" dirty="0">
              <a:solidFill>
                <a:srgbClr val="FFC000"/>
              </a:solidFill>
              <a:highlight>
                <a:srgbClr val="000000"/>
              </a:highlight>
            </a:endParaRPr>
          </a:p>
          <a:p>
            <a:pPr>
              <a:buNone/>
            </a:pPr>
            <a:r>
              <a:rPr lang="fr-FR" sz="2400" dirty="0">
                <a:solidFill>
                  <a:srgbClr val="FFC000"/>
                </a:solidFill>
                <a:highlight>
                  <a:srgbClr val="000000"/>
                </a:highlight>
              </a:rPr>
              <a:t>Étapes de traitement :</a:t>
            </a:r>
            <a:endParaRPr lang="fr-FR" sz="2800" dirty="0">
              <a:solidFill>
                <a:srgbClr val="FFC000"/>
              </a:solidFill>
              <a:highlight>
                <a:srgbClr val="000000"/>
              </a:highlight>
            </a:endParaRPr>
          </a:p>
          <a:p>
            <a:pPr>
              <a:buNone/>
            </a:pPr>
            <a:endParaRPr lang="fr-FR" sz="2000" dirty="0">
              <a:solidFill>
                <a:srgbClr val="FFC000"/>
              </a:solidFill>
              <a:highlight>
                <a:srgbClr val="000000"/>
              </a:highlight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</a:rPr>
              <a:t>Extraction DB2 → </a:t>
            </a: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EXTRACT.DATA</a:t>
            </a:r>
            <a:endParaRPr lang="fr-FR" sz="2000" dirty="0">
              <a:solidFill>
                <a:srgbClr val="FFC000"/>
              </a:solidFill>
              <a:highlight>
                <a:srgbClr val="000000"/>
              </a:highlight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</a:rPr>
              <a:t>Lecture et groupement par commande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</a:rPr>
              <a:t>Constitution du header facture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</a:rPr>
              <a:t>Calculs : prix, remise, totaux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</a:rPr>
              <a:t>Appel sous-programme date (</a:t>
            </a: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COBG53DT</a:t>
            </a: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</a:rPr>
              <a:t>Écriture facture → </a:t>
            </a: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FACTURES.DATA</a:t>
            </a:r>
            <a:endParaRPr lang="fr-FR" sz="2000" dirty="0">
              <a:solidFill>
                <a:srgbClr val="FFC000"/>
              </a:solidFill>
              <a:highlight>
                <a:srgbClr val="000000"/>
              </a:highlight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</a:rPr>
              <a:t>Journalisation des anomalies → </a:t>
            </a: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JOURNAL5.DATA</a:t>
            </a:r>
            <a:endParaRPr lang="fr-FR" sz="2000" dirty="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79226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6E75799-9559-FE90-90F5-4B7F453C6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47" y="0"/>
            <a:ext cx="11480105" cy="6858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399FC085-AE45-67FA-0AC1-78DCE8BB37DE}"/>
              </a:ext>
            </a:extLst>
          </p:cNvPr>
          <p:cNvSpPr txBox="1"/>
          <p:nvPr/>
        </p:nvSpPr>
        <p:spPr>
          <a:xfrm>
            <a:off x="355947" y="2028616"/>
            <a:ext cx="6912077" cy="2800767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C000"/>
                </a:solidFill>
              </a:rPr>
              <a:t>Programmes COBOL utilisés</a:t>
            </a:r>
          </a:p>
          <a:p>
            <a:pPr>
              <a:buNone/>
            </a:pPr>
            <a:endParaRPr lang="fr-FR" sz="4000" b="1" dirty="0">
              <a:solidFill>
                <a:srgbClr val="FFC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FFC000"/>
                </a:solidFill>
              </a:rPr>
              <a:t>CODISTIL</a:t>
            </a:r>
            <a:r>
              <a:rPr lang="fr-FR" sz="2000" dirty="0">
                <a:solidFill>
                  <a:srgbClr val="FFC000"/>
                </a:solidFill>
              </a:rPr>
              <a:t> : génération des factures (programme principal)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FFC000"/>
                </a:solidFill>
              </a:rPr>
              <a:t>COBG53DT</a:t>
            </a:r>
            <a:r>
              <a:rPr lang="fr-FR" sz="2000" dirty="0">
                <a:solidFill>
                  <a:srgbClr val="FFC000"/>
                </a:solidFill>
              </a:rPr>
              <a:t> : traitement des dates (sous-programme)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FFC000"/>
                </a:solidFill>
              </a:rPr>
              <a:t>CODICONV</a:t>
            </a:r>
            <a:r>
              <a:rPr lang="fr-FR" sz="2000" dirty="0">
                <a:solidFill>
                  <a:srgbClr val="FFC000"/>
                </a:solidFill>
              </a:rPr>
              <a:t> : tests unitaires sur conversions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FFC000"/>
                </a:solidFill>
              </a:rPr>
              <a:t>CODICTST / ASSEQ</a:t>
            </a:r>
            <a:r>
              <a:rPr lang="fr-FR" sz="2000" dirty="0">
                <a:solidFill>
                  <a:srgbClr val="FFC000"/>
                </a:solidFill>
              </a:rPr>
              <a:t> : tests unitaires complémentaires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FFC000"/>
                </a:solidFill>
              </a:rPr>
              <a:t>LOGGERG5</a:t>
            </a:r>
            <a:r>
              <a:rPr lang="fr-FR" sz="2000" dirty="0">
                <a:solidFill>
                  <a:srgbClr val="FFC000"/>
                </a:solidFill>
              </a:rPr>
              <a:t> : journalisation des erreurs</a:t>
            </a:r>
          </a:p>
        </p:txBody>
      </p:sp>
    </p:spTree>
    <p:extLst>
      <p:ext uri="{BB962C8B-B14F-4D97-AF65-F5344CB8AC3E}">
        <p14:creationId xmlns:p14="http://schemas.microsoft.com/office/powerpoint/2010/main" val="1984388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C10E875-8D27-A8F2-E4DC-52D9C4951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76" y="51916"/>
            <a:ext cx="11631648" cy="675416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2B6FA8E-C071-DAD4-A17A-CD242C920100}"/>
              </a:ext>
            </a:extLst>
          </p:cNvPr>
          <p:cNvSpPr txBox="1"/>
          <p:nvPr/>
        </p:nvSpPr>
        <p:spPr>
          <a:xfrm>
            <a:off x="605296" y="621050"/>
            <a:ext cx="6096000" cy="2492990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C000"/>
                </a:solidFill>
                <a:highlight>
                  <a:srgbClr val="000000"/>
                </a:highlight>
              </a:rPr>
              <a:t>JCL utilisés (extraits)</a:t>
            </a:r>
          </a:p>
          <a:p>
            <a:pPr>
              <a:buNone/>
            </a:pPr>
            <a:endParaRPr lang="fr-FR" sz="2000" b="1" dirty="0">
              <a:solidFill>
                <a:srgbClr val="FFC000"/>
              </a:solidFill>
              <a:highlight>
                <a:srgbClr val="0000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JXTRCT55</a:t>
            </a: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</a:rPr>
              <a:t> : extraction DB2 → </a:t>
            </a: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extract.data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CCOBG53D</a:t>
            </a: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</a:rPr>
              <a:t> : compilation sous-programme dates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CCODISTI</a:t>
            </a: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</a:rPr>
              <a:t> : compilation CODISTIL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JLOGGER5</a:t>
            </a: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</a:rPr>
              <a:t> : compilation journalisation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EXECOTST</a:t>
            </a:r>
            <a:r>
              <a:rPr lang="fr-FR" sz="2000" dirty="0">
                <a:solidFill>
                  <a:srgbClr val="FFC000"/>
                </a:solidFill>
                <a:highlight>
                  <a:srgbClr val="000000"/>
                </a:highlight>
              </a:rPr>
              <a:t> : exécution tests unitaires</a:t>
            </a:r>
          </a:p>
        </p:txBody>
      </p:sp>
    </p:spTree>
    <p:extLst>
      <p:ext uri="{BB962C8B-B14F-4D97-AF65-F5344CB8AC3E}">
        <p14:creationId xmlns:p14="http://schemas.microsoft.com/office/powerpoint/2010/main" val="4232153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E988436-9A8E-2BDC-7556-D3EDB7065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60" y="80495"/>
            <a:ext cx="11679280" cy="66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20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6FE233B-84C1-B47E-71A1-6141711A5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5" y="66205"/>
            <a:ext cx="11603069" cy="67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095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0AA56CA-FD12-1DE3-2496-18C375B9C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80" y="0"/>
            <a:ext cx="11417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096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2E1A48B-C417-80FD-E27F-384EE7395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27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C73C027-9EB6-A3F3-44EA-4669D7070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48" y="0"/>
            <a:ext cx="102917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32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FD137DD-652F-19C9-A7B3-60478D7C6A9D}"/>
              </a:ext>
            </a:extLst>
          </p:cNvPr>
          <p:cNvSpPr txBox="1"/>
          <p:nvPr/>
        </p:nvSpPr>
        <p:spPr>
          <a:xfrm>
            <a:off x="2630129" y="1336119"/>
            <a:ext cx="693174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C000"/>
                </a:solidFill>
              </a:rPr>
              <a:t>Partie 4 : Statistiques</a:t>
            </a:r>
          </a:p>
          <a:p>
            <a:pPr>
              <a:buNone/>
            </a:pPr>
            <a:endParaRPr lang="fr-FR" b="1" dirty="0">
              <a:solidFill>
                <a:srgbClr val="FFC000"/>
              </a:solidFill>
            </a:endParaRPr>
          </a:p>
          <a:p>
            <a:pPr>
              <a:buNone/>
            </a:pPr>
            <a:r>
              <a:rPr lang="fr-FR" sz="2400" dirty="0">
                <a:solidFill>
                  <a:srgbClr val="FFC000"/>
                </a:solidFill>
              </a:rPr>
              <a:t>Objectifs : produire </a:t>
            </a:r>
            <a:r>
              <a:rPr lang="fr-FR" sz="2400" dirty="0">
                <a:solidFill>
                  <a:srgbClr val="FFC000"/>
                </a:solidFill>
                <a:latin typeface="Courier New" panose="02070309020205020404" pitchFamily="49" charset="0"/>
              </a:rPr>
              <a:t>PROJET.STATS.DATA</a:t>
            </a:r>
          </a:p>
          <a:p>
            <a:pPr>
              <a:buNone/>
            </a:pPr>
            <a:br>
              <a:rPr lang="fr-FR" sz="2400" dirty="0">
                <a:solidFill>
                  <a:srgbClr val="FFC000"/>
                </a:solidFill>
              </a:rPr>
            </a:br>
            <a:r>
              <a:rPr lang="fr-FR" sz="2400" dirty="0">
                <a:solidFill>
                  <a:srgbClr val="FFC000"/>
                </a:solidFill>
              </a:rPr>
              <a:t>Statistiques générées :</a:t>
            </a:r>
          </a:p>
          <a:p>
            <a:pPr>
              <a:buNone/>
            </a:pPr>
            <a:endParaRPr lang="fr-FR" dirty="0">
              <a:solidFill>
                <a:srgbClr val="FFC000"/>
              </a:solidFill>
            </a:endParaRPr>
          </a:p>
          <a:p>
            <a:pPr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</a:rPr>
              <a:t>Quantités par produit (3 ans)</a:t>
            </a:r>
          </a:p>
          <a:p>
            <a:pPr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</a:rPr>
              <a:t>Ventes par ville</a:t>
            </a:r>
          </a:p>
          <a:p>
            <a:pPr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</a:rPr>
              <a:t>Commissions par département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Totaux globaux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FFC000"/>
              </a:solidFill>
            </a:endParaRPr>
          </a:p>
          <a:p>
            <a:pPr>
              <a:buNone/>
            </a:pPr>
            <a:r>
              <a:rPr lang="fr-FR" sz="2400" dirty="0">
                <a:solidFill>
                  <a:srgbClr val="FFC000"/>
                </a:solidFill>
              </a:rPr>
              <a:t>Contraintes : tri par description, formatage, totaux.</a:t>
            </a:r>
          </a:p>
        </p:txBody>
      </p:sp>
    </p:spTree>
    <p:extLst>
      <p:ext uri="{BB962C8B-B14F-4D97-AF65-F5344CB8AC3E}">
        <p14:creationId xmlns:p14="http://schemas.microsoft.com/office/powerpoint/2010/main" val="1990682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23AD1F7-55E6-D82F-A6E1-E53975A721FA}"/>
              </a:ext>
            </a:extLst>
          </p:cNvPr>
          <p:cNvSpPr txBox="1"/>
          <p:nvPr/>
        </p:nvSpPr>
        <p:spPr>
          <a:xfrm>
            <a:off x="3048000" y="1828562"/>
            <a:ext cx="609600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C000"/>
                </a:solidFill>
              </a:rPr>
              <a:t>Journalisation</a:t>
            </a:r>
            <a:endParaRPr lang="fr-FR" b="1" dirty="0">
              <a:solidFill>
                <a:srgbClr val="FFC000"/>
              </a:solidFill>
            </a:endParaRPr>
          </a:p>
          <a:p>
            <a:pPr>
              <a:buNone/>
            </a:pPr>
            <a:endParaRPr lang="fr-FR" b="1" dirty="0">
              <a:solidFill>
                <a:srgbClr val="FFC000"/>
              </a:solidFill>
            </a:endParaRPr>
          </a:p>
          <a:p>
            <a:pPr>
              <a:buNone/>
            </a:pPr>
            <a:r>
              <a:rPr lang="fr-FR" sz="2000" dirty="0">
                <a:solidFill>
                  <a:srgbClr val="FFC000"/>
                </a:solidFill>
              </a:rPr>
              <a:t>Fichier : </a:t>
            </a:r>
            <a:r>
              <a:rPr lang="fr-FR" sz="2000" dirty="0">
                <a:solidFill>
                  <a:srgbClr val="FFC000"/>
                </a:solidFill>
                <a:latin typeface="Courier New" panose="02070309020205020404" pitchFamily="49" charset="0"/>
              </a:rPr>
              <a:t>PROJET.JOURNAL.DATA</a:t>
            </a:r>
          </a:p>
          <a:p>
            <a:pPr>
              <a:buNone/>
            </a:pPr>
            <a:br>
              <a:rPr lang="fr-FR" sz="2000" dirty="0">
                <a:solidFill>
                  <a:srgbClr val="FFC000"/>
                </a:solidFill>
              </a:rPr>
            </a:br>
            <a:r>
              <a:rPr lang="fr-FR" sz="2000" dirty="0">
                <a:solidFill>
                  <a:srgbClr val="FFC000"/>
                </a:solidFill>
              </a:rPr>
              <a:t>Contient :</a:t>
            </a:r>
          </a:p>
          <a:p>
            <a:pPr>
              <a:buNone/>
            </a:pPr>
            <a:endParaRPr lang="fr-FR" dirty="0">
              <a:solidFill>
                <a:srgbClr val="FFC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anomalies rencontrées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numéros de commande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types et dates des erreurs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éléments facilitant le débogage</a:t>
            </a:r>
          </a:p>
        </p:txBody>
      </p:sp>
    </p:spTree>
    <p:extLst>
      <p:ext uri="{BB962C8B-B14F-4D97-AF65-F5344CB8AC3E}">
        <p14:creationId xmlns:p14="http://schemas.microsoft.com/office/powerpoint/2010/main" val="2146735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D30AF75-6BED-A03A-BF2A-01C1ABFAE363}"/>
              </a:ext>
            </a:extLst>
          </p:cNvPr>
          <p:cNvSpPr txBox="1"/>
          <p:nvPr/>
        </p:nvSpPr>
        <p:spPr>
          <a:xfrm>
            <a:off x="2930013" y="1720840"/>
            <a:ext cx="633197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C000"/>
                </a:solidFill>
              </a:rPr>
              <a:t>Synthèse du fonctionnement</a:t>
            </a:r>
          </a:p>
          <a:p>
            <a:pPr>
              <a:buNone/>
            </a:pPr>
            <a:endParaRPr lang="fr-FR" sz="2000" b="1" dirty="0">
              <a:solidFill>
                <a:srgbClr val="FFC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</a:rPr>
              <a:t>Lecture et import des fichiers externes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</a:rPr>
              <a:t>Validation + cohérences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</a:rPr>
              <a:t>Mise à jour DB2 et fichiers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</a:rPr>
              <a:t>Génération extract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</a:rPr>
              <a:t>Génération factures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</a:rPr>
              <a:t>Génération statistiques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</a:rPr>
              <a:t>Journalisation continue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solidFill>
                  <a:srgbClr val="FFC000"/>
                </a:solidFill>
              </a:rPr>
              <a:t>Tests unitaires</a:t>
            </a:r>
          </a:p>
        </p:txBody>
      </p:sp>
    </p:spTree>
    <p:extLst>
      <p:ext uri="{BB962C8B-B14F-4D97-AF65-F5344CB8AC3E}">
        <p14:creationId xmlns:p14="http://schemas.microsoft.com/office/powerpoint/2010/main" val="3879259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8CCF8E3-2C39-A987-0F85-601CA6479EDB}"/>
              </a:ext>
            </a:extLst>
          </p:cNvPr>
          <p:cNvSpPr txBox="1"/>
          <p:nvPr/>
        </p:nvSpPr>
        <p:spPr>
          <a:xfrm>
            <a:off x="3048000" y="1182231"/>
            <a:ext cx="60960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C000"/>
                </a:solidFill>
              </a:rPr>
              <a:t>Conclusion</a:t>
            </a:r>
            <a:endParaRPr lang="fr-FR" b="1" dirty="0">
              <a:solidFill>
                <a:srgbClr val="FFC000"/>
              </a:solidFill>
            </a:endParaRPr>
          </a:p>
          <a:p>
            <a:pPr>
              <a:buNone/>
            </a:pPr>
            <a:endParaRPr lang="fr-FR" b="1" dirty="0">
              <a:solidFill>
                <a:srgbClr val="FFC000"/>
              </a:solidFill>
            </a:endParaRPr>
          </a:p>
          <a:p>
            <a:pPr>
              <a:buNone/>
            </a:pPr>
            <a:r>
              <a:rPr lang="fr-FR" sz="2000" dirty="0">
                <a:solidFill>
                  <a:srgbClr val="FFC000"/>
                </a:solidFill>
              </a:rPr>
              <a:t>Nous avons délivré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Une solution complète, automatisée et conforme au cahier des charges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Une architecture stable (COBOL / JCL / DB2 / fichiers séquentiels)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Une démarche structurée et collaborative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Des tests unitaires assurant la fiabilité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Une production de factures et statistiques totalement automatisée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rgbClr val="FFC000"/>
              </a:solidFill>
            </a:endParaRPr>
          </a:p>
          <a:p>
            <a:r>
              <a:rPr lang="fr-FR" sz="3200" b="1" dirty="0">
                <a:solidFill>
                  <a:srgbClr val="FFC000"/>
                </a:solidFill>
              </a:rPr>
              <a:t>Remerciements </a:t>
            </a:r>
          </a:p>
          <a:p>
            <a:r>
              <a:rPr lang="fr-FR" dirty="0">
                <a:solidFill>
                  <a:srgbClr val="FFC000"/>
                </a:solidFill>
              </a:rPr>
              <a:t>	Steeve – Pierre - Ezzeddine - Marc</a:t>
            </a:r>
          </a:p>
        </p:txBody>
      </p:sp>
    </p:spTree>
    <p:extLst>
      <p:ext uri="{BB962C8B-B14F-4D97-AF65-F5344CB8AC3E}">
        <p14:creationId xmlns:p14="http://schemas.microsoft.com/office/powerpoint/2010/main" val="2536794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</TotalTime>
  <Words>554</Words>
  <Application>Microsoft Office PowerPoint</Application>
  <PresentationFormat>Grand écran</PresentationFormat>
  <Paragraphs>128</Paragraphs>
  <Slides>19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RUFFENACH Yves</dc:creator>
  <cp:lastModifiedBy>RUFFENACH Yves</cp:lastModifiedBy>
  <cp:revision>2</cp:revision>
  <dcterms:created xsi:type="dcterms:W3CDTF">2025-12-01T10:19:51Z</dcterms:created>
  <dcterms:modified xsi:type="dcterms:W3CDTF">2025-12-01T11:23:37Z</dcterms:modified>
</cp:coreProperties>
</file>